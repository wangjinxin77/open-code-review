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20 秒。先把结论说死：这不是模型榜，是同一批模型换一套约束之后的结果。后面所有页都在解释这句为什么成立，以及它在哪里不成立。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 分钟。用你自己的观察开口：Cursor Agent 反复追问会越找越多；OCR 换问法，结论不动。先停在「为什么」，不要在这一页讲五重门。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3 分钟。三个弱点都是流程缺陷：覆盖靠自觉、定位靠模型口算、质量靠提示词运气。收在那句判断上，并明确说：换一个更强的模型，这三个洞还在。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3 分钟，全场重点的第一页。逐行念，但每行只强调「为什么不能交给另一边」。行号：主路径是 existing_code 对 diff 的滑动窗口；匹配失败才有可选的 RE_LOCATION_TASK，回来仍做第二次确定性解析。不要说成「行号完全没有模型」。Reflector 本身仍是一次 LLM 调用，任务被收成证伪。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2.5 分钟。用手从左划到右。强调两件事实：1）当前实现是按文件派发，默认并发 8，上下文隔离——README 里的关联文件打包（如中英文 properties）不要讲成已在 dispatcher 里分组，代码是 per-file。2）现场如果能跑，这里切到 ocr review --preview，不花 token，看文件被哪一道门丢掉。五重门顺序以 architecture 文档为准。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2.5 分钟。把 prompt 的否决规则讲清楚：只核 diff 里能核的断言；diff 给出反证才判错；涉及其他文件、业务语义、运行时行为，且 diff 没有反证，就不做判定。它不打分、不排优先级、不讨论这条评论值不值得说。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 分钟。这是精度故事的机制页，不是消融实验。公开基准对比的是整套 Harness，没有单独拆出「去掉 Reflector」的数字。分享时可以说：这是我们把 7% 量级拉到 25–38% 所依赖的机制；不要说成论文已经证明了因果份额。下一页用端到端数据。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2.5 分钟。数据集：50 个热门仓库、200 个真实 PR、10 种语言、1,505 个标注缺陷，80+ 资深工程师交叉标注。版本：OCR v1.3.1，Claude Code v2.1.169 的 /code-review。SEM-F1 是网站标注的综合分。强调横比是同模型，纵比是「OCR 最差仍赢 CC 最好」。DeepSeek 与 Claude-4.8-Opus 在 OCR 上 SEM-F1 同为 17.90%，不要说成只有 DeepSeek 垫底。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 分钟。精度区间来自同一张表：OCR 25.20%（Qwen3.7-Max）到 37.80%（Claude-4.8-Opus）；Claude Code 7.23%（4.6 Opus）到 15.93%（4.8 Opus）。官网另有「约 1/9 token」的汇总口径（1,000 PR），和这张表的单模型倍数不是同一个聚合，口头点到即可，不要混成一个公式。GPT-5.5 在表里的对照是 Codex 不是 Claude Code，这张图没放它。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2 分钟。主动把短板说出来。20% 是 SEM-F1 最优配置的召回，也是表里 OCR 的最高召回，不是另一次评测。Claude Code 用召回换来的是 7% 精度：5,980 条评论里 435 条对上标注。问听众：你们的审查更怕漏，还是更怕噪声。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3 分钟，收束占全场约 15%。每条举一个非代码审查的例子停半秒：客服工单的退款资格计算、研究助手的引用是否真实存在、运维 Agent 的变更窗口。原则是：不确定可以留在语义层，不能留在有标准答案的层。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 1.5–2 分钟。如果环境就绪，现场跑 ocr review --preview，指一两个被 default_path 或 unsupported_ext 丢掉的文件。没环境就停在这张终端卡上，不要临时改去讲安装。最后一句说完就停，把提问时间留给「你们的 Agent 里，哪一步其实有标准答案」。时长分配：架构（第 2–7 页）约 60%，数据（第 8–10 页）约 25%，原则和收束约 15%。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备用页，超时就不要放。有人追问数字时再翻。仓库里没有 arXiv 编号；若你们有论文，把引用补在这一页，不要口头说成论文消融。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技术分享  ·  20–25 分钟  ·  不讲安装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确定性工程如何驯服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不确定的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Open Code Review 架构解析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10789920" cy="105156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51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核心结论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102412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同样的模型，换一套 Harness，精度提升 2 倍以上。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公开 AACR-Bench  ·  同模型 Precision 2.4× – 4.7×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01   先看现象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2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同一个问题，问两次，不该得到两套审查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先不要解释架构。让听众自己感到别扭。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394960" cy="324612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F5A624"/>
                </a:solidFill>
                <a:latin typeface="Noto Sans CJK SC"/>
                <a:ea typeface="Noto Sans CJK SC"/>
                <a:cs typeface="Noto Sans CJK SC"/>
              </a:rPr>
              <a:t>通用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越追问，越多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Cursor 一类方案里，再问一句「还有吗」，
评论会继续长出来。覆盖、行号、结论
都随对话漂移。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440680" cy="3246120"/>
          </a:xfrm>
          <a:prstGeom prst="roundRect">
            <a:avLst>
              <a:gd name="adj" fmla="val 8000"/>
            </a:avLst>
          </a:prstGeom>
          <a:solidFill>
            <a:srgbClr val="143D24"/>
          </a:solidFill>
          <a:ln w="15875">
            <a:solidFill>
              <a:srgbClr val="2BD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换着问，仍稳定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6324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同一份 diff，结果不跟着追问膨胀。
多出来的不是「模型更听话」，
是流程里有几步模型改不了。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这一页只留下一个问题：为什么稳定的是流程，不是模型？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系统设计如何驯服 LLM 不确定性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02  /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02   结构性缺陷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不要怪模型。怪没有硬约束的流程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覆盖不全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变更一大，Agent 会挑着看。
漏掉的文件，对话里不会自己补上。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位置漂移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8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评论是对的，行号是错的。
或者文件都对不上。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691640"/>
            <a:ext cx="3611880" cy="306324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7451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质量不稳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2608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提示词改半句，结论就换一批。
同一份 diff，不可复现。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83480"/>
            <a:ext cx="11201400" cy="128016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389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F5A624"/>
                </a:solidFill>
                <a:latin typeface="Noto Sans CJK SC"/>
                <a:ea typeface="Noto Sans CJK SC"/>
                <a:cs typeface="Noto Sans CJK SC"/>
              </a:rPr>
              <a:t>判断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68112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纯语言驱动的架构，对审查流程缺乏硬约束。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系统设计如何驯服 LLM 不确定性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03  / 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03   职责分离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谁做什么：不能错的步骤，模型不许碰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11201400" cy="438912"/>
          </a:xfrm>
          <a:prstGeom prst="rect">
            <a:avLst/>
          </a:prstGeom>
          <a:solidFill>
            <a:srgbClr val="22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627632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环节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911" y="162763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由谁负责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1" y="1627632"/>
            <a:ext cx="470916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为什么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93392"/>
            <a:ext cx="11201400" cy="804672"/>
          </a:xfrm>
          <a:prstGeom prst="rect">
            <a:avLst/>
          </a:prstGeom>
          <a:solidFill>
            <a:srgbClr val="1A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93392"/>
            <a:ext cx="73152" cy="804672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文件筛选、分治派发、规则匹配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21284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确定性工程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21284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不能出错。LLM 不参与。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62072"/>
            <a:ext cx="11201400" cy="804672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62072"/>
            <a:ext cx="73152" cy="804672"/>
          </a:xfrm>
          <a:prstGeom prst="rect">
            <a:avLst/>
          </a:prstGeom>
          <a:solidFill>
            <a:srgbClr val="F5A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8152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语义深度推理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08152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F5A624"/>
                </a:solidFill>
                <a:latin typeface="Noto Sans CJK SC"/>
                <a:ea typeface="Noto Sans CJK SC"/>
                <a:cs typeface="Noto Sans CJK SC"/>
              </a:rPr>
              <a:t>LLM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08152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只有模型读得懂上下文在说什么。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30752"/>
            <a:ext cx="11201400" cy="804672"/>
          </a:xfrm>
          <a:prstGeom prst="rect">
            <a:avLst/>
          </a:prstGeom>
          <a:solidFill>
            <a:srgbClr val="1A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730752"/>
            <a:ext cx="73152" cy="804672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5020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评论行号定位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95020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滑动窗口算法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95020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用 existing_code 对 diff，不信模型报的行号。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99431"/>
            <a:ext cx="11201400" cy="804672"/>
          </a:xfrm>
          <a:prstGeom prst="rect">
            <a:avLst/>
          </a:prstGeom>
          <a:solidFill>
            <a:srgbClr val="14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599431"/>
            <a:ext cx="73152" cy="804672"/>
          </a:xfrm>
          <a:prstGeom prst="rect">
            <a:avLst/>
          </a:prstGeom>
          <a:solidFill>
            <a:srgbClr val="F5A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1888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评论事实核查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818888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F5A624"/>
                </a:solidFill>
                <a:latin typeface="Noto Sans CJK SC"/>
                <a:ea typeface="Noto Sans CJK SC"/>
                <a:cs typeface="Noto Sans CJK SC"/>
              </a:rPr>
              <a:t>独立 Reflector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81888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只删被 diff 直接证伪的评论。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系统设计如何驯服 LLM 不确定性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04  / 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04   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一条横向流水线，模型只占其中两格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74519"/>
            <a:ext cx="1466958" cy="1874519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BD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2020824"/>
            <a:ext cx="135723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2350008"/>
            <a:ext cx="135723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Git diff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3044952"/>
            <a:ext cx="135723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变更事实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69294" y="2747772"/>
            <a:ext cx="128016" cy="128016"/>
          </a:xfrm>
          <a:prstGeom prst="rightArrow">
            <a:avLst/>
          </a:prstGeom>
          <a:solidFill>
            <a:srgbClr val="6B7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33886" y="1874519"/>
            <a:ext cx="1466958" cy="1874519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BD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8750" y="2020824"/>
            <a:ext cx="135723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8750" y="2350008"/>
            <a:ext cx="135723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五重门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8750" y="3044952"/>
            <a:ext cx="135723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筛掉噪声文件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37421" y="2747772"/>
            <a:ext cx="128016" cy="128016"/>
          </a:xfrm>
          <a:prstGeom prst="rightArrow">
            <a:avLst/>
          </a:prstGeom>
          <a:solidFill>
            <a:srgbClr val="6B7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02013" y="1874519"/>
            <a:ext cx="1466958" cy="1874519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BD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6877" y="2020824"/>
            <a:ext cx="135723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6877" y="2350008"/>
            <a:ext cx="135723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分治 + 规则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6877" y="3044952"/>
            <a:ext cx="135723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每文件独立上下文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205548" y="2747772"/>
            <a:ext cx="128016" cy="128016"/>
          </a:xfrm>
          <a:prstGeom prst="rightArrow">
            <a:avLst/>
          </a:prstGeom>
          <a:solidFill>
            <a:srgbClr val="6B7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70140" y="1874519"/>
            <a:ext cx="1466958" cy="1874519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F5A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25004" y="2020824"/>
            <a:ext cx="135723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>
                <a:solidFill>
                  <a:srgbClr val="F5A62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25004" y="2350008"/>
            <a:ext cx="135723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子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5004" y="3044952"/>
            <a:ext cx="135723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语义审查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873675" y="2747772"/>
            <a:ext cx="128016" cy="128016"/>
          </a:xfrm>
          <a:prstGeom prst="rightArrow">
            <a:avLst/>
          </a:prstGeom>
          <a:solidFill>
            <a:srgbClr val="6B7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38267" y="1874519"/>
            <a:ext cx="1466958" cy="1874519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BD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3131" y="2020824"/>
            <a:ext cx="135723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3131" y="2350008"/>
            <a:ext cx="135723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行号锚定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131" y="3044952"/>
            <a:ext cx="135723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滑动窗口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541802" y="2747772"/>
            <a:ext cx="128016" cy="128016"/>
          </a:xfrm>
          <a:prstGeom prst="rightArrow">
            <a:avLst/>
          </a:prstGeom>
          <a:solidFill>
            <a:srgbClr val="6B7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706394" y="1874519"/>
            <a:ext cx="1466958" cy="1874519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F5A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61258" y="2020824"/>
            <a:ext cx="135723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>
                <a:solidFill>
                  <a:srgbClr val="F5A624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1258" y="2350008"/>
            <a:ext cx="135723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反射过滤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1258" y="3044952"/>
            <a:ext cx="135723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只做证伪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0209929" y="2747772"/>
            <a:ext cx="128016" cy="128016"/>
          </a:xfrm>
          <a:prstGeom prst="rightArrow">
            <a:avLst/>
          </a:prstGeom>
          <a:solidFill>
            <a:srgbClr val="6B7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374521" y="1874519"/>
            <a:ext cx="1466958" cy="1874519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BD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9385" y="2020824"/>
            <a:ext cx="135723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9385" y="2350008"/>
            <a:ext cx="135723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输出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9385" y="3044952"/>
            <a:ext cx="135723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文本 / JSON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206240"/>
            <a:ext cx="5623560" cy="201168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3434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绿色是硬约束，琥珀是模型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754880"/>
            <a:ext cx="52578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模型只做两件事：读懂语义，以及在看不见探索过程的前提下证伪。
其余步骤失败方式是确定的，可以单测。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4206240"/>
            <a:ext cx="5669280" cy="201168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43434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五重门，零 token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754880"/>
            <a:ext cx="530352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二进制 → 用户排除 → include 短路
→ 扩展名白名单 → 内置测试路径
更早还有 vendor / node_modules 目录过滤。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系统设计如何驯服 LLM 不确定性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05  / 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05   反思模块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Reflector 不评好坏，只问一句：diff 能不能打脸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201400" cy="123444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BD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REVIEW_FILTER_TASK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You need to falsify, not verify.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0896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1546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diff 里有直接反证，
能证明这条评论的关键断言是错的。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10896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46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5A624"/>
                </a:solidFill>
                <a:latin typeface="Noto Sans CJK SC"/>
                <a:ea typeface="Noto Sans CJK SC"/>
                <a:cs typeface="Noto Sans CJK SC"/>
              </a:rPr>
              <a:t>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840480"/>
            <a:ext cx="31546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你只是无法证实。
证不了，也不等于它是假的。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108960"/>
            <a:ext cx="3611880" cy="224028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246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5A624"/>
                </a:solidFill>
                <a:latin typeface="Noto Sans CJK SC"/>
                <a:ea typeface="Noto Sans CJK SC"/>
                <a:cs typeface="Noto Sans CJK SC"/>
              </a:rPr>
              <a:t>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840480"/>
            <a:ext cx="3154680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依据在 diff 外面。
主 Agent 可能用工具看过你看不见的上下文。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系统设计如何驯服 LLM 不确定性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06  / 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06   信息边界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核查者看不见生成者是怎么想的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029200" cy="338328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F5A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F5A624"/>
                </a:solidFill>
                <a:latin typeface="Noto Sans CJK SC"/>
                <a:ea typeface="Noto Sans CJK SC"/>
                <a:cs typeface="Noto Sans CJK SC"/>
              </a:rPr>
              <a:t>主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看过很多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44805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全文、代码搜索、其他变更文件、
工具调用轨迹。它有理由相信自己。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554480"/>
            <a:ext cx="5029200" cy="3383280"/>
          </a:xfrm>
          <a:prstGeom prst="roundRect">
            <a:avLst>
              <a:gd name="adj" fmla="val 8000"/>
            </a:avLst>
          </a:prstGeom>
          <a:solidFill>
            <a:srgbClr val="143D24"/>
          </a:solidFill>
          <a:ln w="15875">
            <a:solidFill>
              <a:srgbClr val="2BD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37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Reflector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1488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只看 diff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834640"/>
            <a:ext cx="448056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系统提示写明：你现在只能看见 diff。
怀疑但无法用 diff 证伪的，放行。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88036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600" b="1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切断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120640"/>
            <a:ext cx="11201400" cy="114300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自我合理化需要同一套上下文。把上下文拆开，模型就没法用「我刚才看过」给错误评论开脱。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系统设计如何驯服 LLM 不确定性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07  / 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07   AACR-Bench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SEM-F1：最弱的 OCR，仍高于最强的 Claude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7315199" cy="12700"/>
          </a:xfrm>
          <a:prstGeom prst="rect">
            <a:avLst/>
          </a:prstGeom>
          <a:solidFill>
            <a:srgbClr val="2C3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422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66160"/>
            <a:ext cx="7315199" cy="12700"/>
          </a:xfrm>
          <a:prstGeom prst="rect">
            <a:avLst/>
          </a:prstGeom>
          <a:solidFill>
            <a:srgbClr val="2C3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4564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600200"/>
            <a:ext cx="7315199" cy="12700"/>
          </a:xfrm>
          <a:prstGeom prst="rect">
            <a:avLst/>
          </a:prstGeom>
          <a:solidFill>
            <a:srgbClr val="2C3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904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6307" y="2448020"/>
            <a:ext cx="409651" cy="3084099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8019" y="2210276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25.1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0822" y="4110485"/>
            <a:ext cx="409651" cy="1421634"/>
          </a:xfrm>
          <a:prstGeom prst="rect">
            <a:avLst/>
          </a:prstGeom>
          <a:solidFill>
            <a:srgbClr val="8B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2534" y="3872741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11.6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605272"/>
            <a:ext cx="146303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4.6 Opus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49346" y="3332702"/>
            <a:ext cx="409651" cy="2199417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31058" y="3094958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17.9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3862" y="3795931"/>
            <a:ext cx="409651" cy="1736188"/>
          </a:xfrm>
          <a:prstGeom prst="rect">
            <a:avLst/>
          </a:prstGeom>
          <a:solidFill>
            <a:srgbClr val="8B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5574" y="3558187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14.1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5999" y="5605272"/>
            <a:ext cx="146303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4.8 Opus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12386" y="2927223"/>
            <a:ext cx="409651" cy="2604897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94098" y="2689479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21.2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76901" y="4036761"/>
            <a:ext cx="409651" cy="1495358"/>
          </a:xfrm>
          <a:prstGeom prst="rect">
            <a:avLst/>
          </a:prstGeom>
          <a:solidFill>
            <a:srgbClr val="8B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8613" y="3799017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12.2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605272"/>
            <a:ext cx="146303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Qwen3.7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75426" y="3025521"/>
            <a:ext cx="409651" cy="2506599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57138" y="2787777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20.4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39941" y="4066251"/>
            <a:ext cx="409651" cy="1465868"/>
          </a:xfrm>
          <a:prstGeom prst="rect">
            <a:avLst/>
          </a:prstGeom>
          <a:solidFill>
            <a:srgbClr val="8B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21653" y="3828507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11.9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5605272"/>
            <a:ext cx="146303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GLM-5.1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38466" y="3332702"/>
            <a:ext cx="409651" cy="2199417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20178" y="3094958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17.9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2981" y="4189123"/>
            <a:ext cx="409651" cy="1342996"/>
          </a:xfrm>
          <a:prstGeom prst="rect">
            <a:avLst/>
          </a:prstGeom>
          <a:solidFill>
            <a:srgbClr val="8B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84693" y="3951379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10.9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19" y="5605272"/>
            <a:ext cx="146303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DeepSeek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799" y="1344168"/>
            <a:ext cx="201168" cy="14630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3831" y="128930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OCR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79" y="1344168"/>
            <a:ext cx="201168" cy="146304"/>
          </a:xfrm>
          <a:prstGeom prst="rect">
            <a:avLst/>
          </a:prstGeom>
          <a:solidFill>
            <a:srgbClr val="8B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68311" y="128930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Claude Code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6760" y="1554480"/>
            <a:ext cx="3383280" cy="429768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17373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读这张图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2103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25.10%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25603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OCR 最优
Claude-4.6-Opus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32461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8B9BAE"/>
                </a:solidFill>
                <a:latin typeface="Noto Sans CJK SC"/>
                <a:ea typeface="Noto Sans CJK SC"/>
                <a:cs typeface="Noto Sans CJK SC"/>
              </a:rPr>
              <a:t>14.13%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37033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Claude Code 最强
Claude-4.8-Opus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443484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OCR 最低一档 17.90%
DeepSeek-V4-Pro 与
Claude-4.8-Opus 并列
仍高于 14.13%。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系统设计如何驯服 LLM 不确定性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08  / 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08   精度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同模型精度 2.4× – 4.7×，Harness 大于换模型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937760"/>
            <a:ext cx="7315199" cy="12700"/>
          </a:xfrm>
          <a:prstGeom prst="rect">
            <a:avLst/>
          </a:prstGeom>
          <a:solidFill>
            <a:srgbClr val="2C3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46120"/>
            <a:ext cx="7315199" cy="12700"/>
          </a:xfrm>
          <a:prstGeom prst="rect">
            <a:avLst/>
          </a:prstGeom>
          <a:solidFill>
            <a:srgbClr val="2C3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1363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554480"/>
            <a:ext cx="7315199" cy="12700"/>
          </a:xfrm>
          <a:prstGeom prst="rect">
            <a:avLst/>
          </a:prstGeom>
          <a:solidFill>
            <a:srgbClr val="2C3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4475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6307" y="2548318"/>
            <a:ext cx="409651" cy="2389441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8019" y="2310574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33.9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0822" y="4428153"/>
            <a:ext cx="409651" cy="509606"/>
          </a:xfrm>
          <a:prstGeom prst="rect">
            <a:avLst/>
          </a:prstGeom>
          <a:solidFill>
            <a:srgbClr val="8B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2534" y="4190409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7.2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10912"/>
            <a:ext cx="146303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4.6 Opus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49346" y="2273427"/>
            <a:ext cx="409651" cy="2664333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31058" y="2035683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37.8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3862" y="3814933"/>
            <a:ext cx="409651" cy="1122826"/>
          </a:xfrm>
          <a:prstGeom prst="rect">
            <a:avLst/>
          </a:prstGeom>
          <a:solidFill>
            <a:srgbClr val="8B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5574" y="3577189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15.9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5999" y="5010912"/>
            <a:ext cx="146303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4.8 Opus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12386" y="3161538"/>
            <a:ext cx="409651" cy="1776222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94098" y="2923794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25.2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76901" y="4357668"/>
            <a:ext cx="409651" cy="580091"/>
          </a:xfrm>
          <a:prstGeom prst="rect">
            <a:avLst/>
          </a:prstGeom>
          <a:solidFill>
            <a:srgbClr val="8B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8613" y="4119924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8.2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5010912"/>
            <a:ext cx="146303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Qwen3.7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75426" y="2900743"/>
            <a:ext cx="409651" cy="2037016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57138" y="2662999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28.9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39941" y="4347800"/>
            <a:ext cx="409651" cy="589959"/>
          </a:xfrm>
          <a:prstGeom prst="rect">
            <a:avLst/>
          </a:prstGeom>
          <a:solidFill>
            <a:srgbClr val="8B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21653" y="4110056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8.4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5010912"/>
            <a:ext cx="146303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GLM-5.1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38466" y="2780919"/>
            <a:ext cx="409651" cy="2156841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20178" y="2543175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30.6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2981" y="4354849"/>
            <a:ext cx="409651" cy="582910"/>
          </a:xfrm>
          <a:prstGeom prst="rect">
            <a:avLst/>
          </a:prstGeom>
          <a:solidFill>
            <a:srgbClr val="8B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84693" y="4117105"/>
            <a:ext cx="446227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8.3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19" y="5010912"/>
            <a:ext cx="146303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DeepSeek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799" y="1298448"/>
            <a:ext cx="201168" cy="14630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3831" y="124358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OCR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79" y="1298448"/>
            <a:ext cx="201168" cy="146304"/>
          </a:xfrm>
          <a:prstGeom prst="rect">
            <a:avLst/>
          </a:prstGeom>
          <a:solidFill>
            <a:srgbClr val="8B9B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68311" y="124358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Claude Code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6760" y="1417320"/>
            <a:ext cx="3383280" cy="388620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9640" y="157276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区间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1965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OCR   25% – 38%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23774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8B9BAE"/>
                </a:solidFill>
                <a:latin typeface="Noto Sans CJK SC"/>
                <a:ea typeface="Noto Sans CJK SC"/>
                <a:cs typeface="Noto Sans CJK SC"/>
              </a:rPr>
              <a:t>Claude Code   7% – 16%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2926080"/>
            <a:ext cx="30175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4.6 Opus
33.9%  vs  7.2%
约 4.7 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40690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最小倍数在 4.8 Opus：
37.8% / 15.9% ≈ 2.4×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结论：换模型挪不动这个差距。换约束可以。同模型 Claude-4.6-Opus 的 token：OCR 385K，Claude Code 5,664K。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系统设计如何驯服 LLM 不确定性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09  /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09   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少而准，是刻意的。召回率大约只有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3657600" cy="3017520"/>
          </a:xfrm>
          <a:prstGeom prst="roundRect">
            <a:avLst>
              <a:gd name="adj" fmla="val 8000"/>
            </a:avLst>
          </a:prstGeom>
          <a:solidFill>
            <a:srgbClr val="143D24"/>
          </a:solidFill>
          <a:ln w="15875">
            <a:solidFill>
              <a:srgbClr val="2BD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OCR 最优配置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Recall
301 / 1,505
Claude-4.6-Opus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54480"/>
            <a:ext cx="3657600" cy="301752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8B9BAE"/>
                </a:solidFill>
                <a:latin typeface="Noto Sans CJK SC"/>
                <a:ea typeface="Noto Sans CJK SC"/>
                <a:cs typeface="Noto Sans CJK SC"/>
              </a:rPr>
              <a:t>同模型 Claude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28.9%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1752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Recall 更高
但 Precision 只有 7.2%
435 / 5,980 条里才是真的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54480"/>
            <a:ext cx="3520440" cy="301752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373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F5A624"/>
                </a:solidFill>
                <a:latin typeface="Noto Sans CJK SC"/>
                <a:ea typeface="Noto Sans CJK SC"/>
                <a:cs typeface="Noto Sans CJK SC"/>
              </a:rPr>
              <a:t>意味着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9456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专家标出的问题里，大约五分之四不会出现在 OCR 的输出里。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54880"/>
            <a:ext cx="5486400" cy="150876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BD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适合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5780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CI 门禁、大变更必须覆盖、
误报会把人赶走的团队。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54880"/>
            <a:ext cx="5532120" cy="150876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F5A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8920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F5A624"/>
                </a:solidFill>
                <a:latin typeface="Noto Sans CJK SC"/>
                <a:ea typeface="Noto Sans CJK SC"/>
                <a:cs typeface="Noto Sans CJK SC"/>
              </a:rPr>
              <a:t>不适合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目标是把专家能标的问题尽量捞全，
后面有人专门洗噪声。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系统设计如何驯服 LLM 不确定性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10  /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10   可迁移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三条原则，不限于代码审查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201400" cy="141732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73352"/>
            <a:ext cx="10058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18488"/>
            <a:ext cx="9418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能确定的，不交给模型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75688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文件该不该看、规则该匹配哪条、行号落在哪，都有标准答案。交给模型，就是把可测试的步骤变成抽样。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11201400" cy="141732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27832"/>
            <a:ext cx="10058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172968"/>
            <a:ext cx="9418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模型输出要有独立核查层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30168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核查层的任务必须比生成层更窄。OCR 里它只回答：这条评论是否被 diff 直接证伪。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26280"/>
            <a:ext cx="11201400" cy="141732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82312"/>
            <a:ext cx="10058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727448"/>
            <a:ext cx="94183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核查和生成之间要有信息边界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184648"/>
            <a:ext cx="9418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9AA3AD"/>
                </a:solidFill>
                <a:latin typeface="Noto Sans CJK SC"/>
                <a:ea typeface="Noto Sans CJK SC"/>
                <a:cs typeface="Noto Sans CJK SC"/>
              </a:rPr>
              <a:t>核查者不能看见生成者的探索过程。共享上下文，就会共享自我合理化。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系统设计如何驯服 LLM 不确定性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11  / 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11   现场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不花 token，先看确定性工程在干活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6766560" cy="3200400"/>
          </a:xfrm>
          <a:prstGeom prst="roundRect">
            <a:avLst>
              <a:gd name="adj" fmla="val 8000"/>
            </a:avLst>
          </a:prstGeom>
          <a:solidFill>
            <a:srgbClr val="0A0C0F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$ ocr review --preview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621792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binary          丢掉
user_exclude    丢掉
unsupported_ext 丢掉
default_path    测试文件丢掉
留下的，才配叫到模型。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554480"/>
            <a:ext cx="4251960" cy="3200400"/>
          </a:xfrm>
          <a:prstGeom prst="roundRect">
            <a:avLst>
              <a:gd name="adj" fmla="val 8000"/>
            </a:avLst>
          </a:prstGeom>
          <a:solidFill>
            <a:srgbClr val="1A1F27"/>
          </a:solidFill>
          <a:ln w="15875">
            <a:solidFill>
              <a:srgbClr val="2C3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7830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这一分钟要证明的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86000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过滤发生在模型之前。
问不问、怎么问，都改变不了哪些文件进得了门。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983480"/>
            <a:ext cx="11201400" cy="1280160"/>
          </a:xfrm>
          <a:prstGeom prst="roundRect">
            <a:avLst>
              <a:gd name="adj" fmla="val 8000"/>
            </a:avLst>
          </a:prstGeom>
          <a:solidFill>
            <a:srgbClr val="143D24"/>
          </a:solidFill>
          <a:ln w="15875">
            <a:solidFill>
              <a:srgbClr val="2BD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4924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把不确定留给语义。把不能错的步骤，从模型手里拿走。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系统设计如何驯服 LLM 不确定性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12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D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附录   数字从哪来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3000" b="1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口径，避免被问住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数据集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3258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50 个仓库，200 个真实 PR，10 种语言，1,505 个标注缺陷，80+ 工程师交叉标注。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30552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SEM-F1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30552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OCR 最优 25.10%（Claude-4.6-Opus）。Claude Code 最强 14.13%（Claude-4.8-Opus）。OCR 最低 17.90%，DeepSeek-V4-Pro 与 Claude-4.8-Opus 并列。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35224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935224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OCR 25.20%–37.80%。Claude Code 7.23%–15.93%。同模型倍数 2.4×–4.7×。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39896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739896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OCR 最优配置 20.00%（301/1505）。同模型 Claude Code 28.90%，精度 7.23%（435/5980）。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44568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版本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544568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表内标注 OCR v1.3.1，Claude Code v2.1.169 /code-review。数字取自仓库 pages 基准表，不是单独的消融实验。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4924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>
                <a:solidFill>
                  <a:srgbClr val="2BDE5E"/>
                </a:solidFill>
                <a:latin typeface="Noto Sans CJK SC"/>
                <a:ea typeface="Noto Sans CJK SC"/>
                <a:cs typeface="Noto Sans CJK SC"/>
              </a:rPr>
              <a:t>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534924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>
                <a:solidFill>
                  <a:srgbClr val="F4F6F8"/>
                </a:solidFill>
                <a:latin typeface="Noto Sans CJK SC"/>
                <a:ea typeface="Noto Sans CJK SC"/>
                <a:cs typeface="Noto Sans CJK SC"/>
              </a:rPr>
              <a:t>五重门、滑动窗口行号、REVIEW_FILTER_TASK 的证伪规则，以 docs/zh/architecture.md 与 review_filter 提示词为准。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系统设计如何驯服 LLM 不确定性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1100" b="0">
                <a:solidFill>
                  <a:srgbClr val="6B737C"/>
                </a:solidFill>
                <a:latin typeface="Noto Sans CJK SC"/>
                <a:ea typeface="Noto Sans CJK SC"/>
                <a:cs typeface="Noto Sans CJK SC"/>
              </a:rPr>
              <a:t>13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确定性工程如何驯服不确定的 Agent：Open Code Review 架构解析</dc:title>
  <dc:subject>系统设计如何驯服 LLM 不确定性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